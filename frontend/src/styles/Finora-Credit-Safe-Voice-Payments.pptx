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1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" name="Image 0" descr="/home/claude/ppt/icons/rupe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788213"/>
            <a:ext cx="435254" cy="4352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00200" y="6583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Finora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22960" y="25146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Credit-Safe, Voice-Guided Payments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361188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Finora feature bringing UPI and credit card payments to elderly users— protected by a credit-score check and a voice + face guided flow.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4892040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1B2E63"/>
          </a:solidFill>
          <a:ln w="12700">
            <a:solidFill>
              <a:srgbClr val="2B3E7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24128" y="50109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024128" y="52852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users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297680" y="4892040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1B2E63"/>
          </a:solidFill>
          <a:ln w="12700">
            <a:solidFill>
              <a:srgbClr val="2B3E7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498848" y="50109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498848" y="52852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772400" y="4892040"/>
            <a:ext cx="3246120" cy="960120"/>
          </a:xfrm>
          <a:prstGeom prst="roundRect">
            <a:avLst>
              <a:gd name="adj" fmla="val 9524"/>
            </a:avLst>
          </a:prstGeom>
          <a:solidFill>
            <a:srgbClr val="1B2E63"/>
          </a:solidFill>
          <a:ln w="12700">
            <a:solidFill>
              <a:srgbClr val="2B3E7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73568" y="50109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93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973568" y="528523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Face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elderly users need a different kind of payment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UPI and credit-card journeys were not built with them in mind.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03704"/>
            <a:ext cx="640080" cy="64008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6" name="Image 0" descr="/home/claude/ppt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2533" y="2306117"/>
            <a:ext cx="435254" cy="435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057400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text, many steps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920240" y="2441448"/>
            <a:ext cx="9281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Menus, PINs and confirmation screens are hard to navigate quickly, which causes hesitation and mistakes.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0120" y="3712464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1" name="Image 1" descr="/home/claude/ppt/icons/credit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533" y="3814877"/>
            <a:ext cx="435254" cy="435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920240" y="3566160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debt creeps up quietly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1920240" y="3950208"/>
            <a:ext cx="9281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EMI or a large purchase can push utilization past a safe limit before anyone notices.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892040"/>
            <a:ext cx="108813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60120" y="5221224"/>
            <a:ext cx="640080" cy="64008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16" name="Image 2" descr="/home/claude/ppt/icons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33" y="5323637"/>
            <a:ext cx="435254" cy="435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920240" y="5074920"/>
            <a:ext cx="9326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of getting it wrong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1920240" y="5458968"/>
            <a:ext cx="9281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bad tap can send money to the wrong person, so many avoid digital payments altogether.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Finora  ·  Credit-safe voice payments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" name="Image 0" descr="/home/claude/ppt/icon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862" y="590702"/>
            <a:ext cx="373075" cy="3730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486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1 — Credit Score Guardrail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170432"/>
            <a:ext cx="6583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EMI, large purchase or credit card payment is checked against credit health before it goes through.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7" name="Image 1" descr="/home/claude/ppt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" y="2231136"/>
            <a:ext cx="292608" cy="2926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176272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automatically on EMIs and large loan-linked payments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2862072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0" name="Image 2" descr="/home/claude/ppt/icons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2944368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2889504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when card utilization would cross the healthy 30% mark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40080" y="3575304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13" name="Image 3" descr="/home/claude/ppt/icons/shield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657600"/>
            <a:ext cx="292608" cy="29260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602736"/>
            <a:ext cx="5852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alert, shown before money leaves the account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7452360" y="1234440"/>
            <a:ext cx="4114800" cy="493776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77800" dist="38100" dir="5400000">
              <a:srgbClr val="1F2937">
                <a:alpha val="12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7772400" y="1554480"/>
            <a:ext cx="3474720" cy="9144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/>
        </p:spPr>
      </p:sp>
      <p:sp>
        <p:nvSpPr>
          <p:cNvPr id="17" name="Shape 11"/>
          <p:cNvSpPr/>
          <p:nvPr/>
        </p:nvSpPr>
        <p:spPr>
          <a:xfrm>
            <a:off x="7955280" y="1737360"/>
            <a:ext cx="530352" cy="530352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8" name="Image 4" descr="/home/claude/ppt/icon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0136" y="1822216"/>
            <a:ext cx="360639" cy="360639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41080" y="16459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pay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8641080" y="1920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payment affects your credit score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7772400" y="2697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utilization if you proceed</a:t>
            </a:r>
            <a:endParaRPr lang="en-US" sz="1150" dirty="0"/>
          </a:p>
        </p:txBody>
      </p:sp>
      <p:sp>
        <p:nvSpPr>
          <p:cNvPr id="22" name="Text 15"/>
          <p:cNvSpPr/>
          <p:nvPr/>
        </p:nvSpPr>
        <p:spPr>
          <a:xfrm>
            <a:off x="7772400" y="29718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3400" dirty="0"/>
          </a:p>
        </p:txBody>
      </p:sp>
      <p:sp>
        <p:nvSpPr>
          <p:cNvPr id="23" name="Shape 16"/>
          <p:cNvSpPr/>
          <p:nvPr/>
        </p:nvSpPr>
        <p:spPr>
          <a:xfrm>
            <a:off x="7772400" y="3657600"/>
            <a:ext cx="3474720" cy="201168"/>
          </a:xfrm>
          <a:prstGeom prst="roundRect">
            <a:avLst>
              <a:gd name="adj" fmla="val 50000"/>
            </a:avLst>
          </a:prstGeom>
          <a:solidFill>
            <a:srgbClr val="E5E7EB"/>
          </a:solidFill>
          <a:ln/>
        </p:spPr>
      </p:sp>
      <p:sp>
        <p:nvSpPr>
          <p:cNvPr id="24" name="Shape 17"/>
          <p:cNvSpPr/>
          <p:nvPr/>
        </p:nvSpPr>
        <p:spPr>
          <a:xfrm>
            <a:off x="7772400" y="3657600"/>
            <a:ext cx="1459382" cy="20116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25" name="Text 18"/>
          <p:cNvSpPr/>
          <p:nvPr/>
        </p:nvSpPr>
        <p:spPr>
          <a:xfrm>
            <a:off x="7772400" y="3931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zone is under 30%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7772400" y="4480560"/>
            <a:ext cx="3474720" cy="0"/>
          </a:xfrm>
          <a:prstGeom prst="line">
            <a:avLst/>
          </a:prstGeom>
          <a:noFill/>
          <a:ln w="12700">
            <a:solidFill>
              <a:srgbClr val="E3E6EE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772400" y="4754880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1E3A8A"/>
          </a:solidFill>
          <a:ln/>
        </p:spPr>
      </p:sp>
      <p:sp>
        <p:nvSpPr>
          <p:cNvPr id="28" name="Text 21"/>
          <p:cNvSpPr/>
          <p:nvPr/>
        </p:nvSpPr>
        <p:spPr>
          <a:xfrm>
            <a:off x="7772400" y="475488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anyway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7772400" y="5440680"/>
            <a:ext cx="347472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772400" y="544068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my budget instead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Finora  ·  Credit-safe voice payments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0" cy="5486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" name="Image 0" descr="/home/claude/ppt/icons/m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862" y="590702"/>
            <a:ext cx="373075" cy="3730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486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2 — Voice + Face Guided UPI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4008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spoken command like "send 3000 to Suman" replaces menu-hunting — identity and PIN still confirm every payment.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874520"/>
            <a:ext cx="34137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96112" y="2093976"/>
            <a:ext cx="365760" cy="365760"/>
          </a:xfrm>
          <a:prstGeom prst="ellipse">
            <a:avLst/>
          </a:prstGeom>
          <a:solidFill>
            <a:srgbClr val="F6F7FB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2093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185160" y="2075688"/>
            <a:ext cx="502920" cy="502920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0" name="Image 1" descr="/home/claude/ppt/icons/un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656" y="2161184"/>
            <a:ext cx="331927" cy="3319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96112" y="2651760"/>
            <a:ext cx="2901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 the app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96112" y="3200400"/>
            <a:ext cx="2901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Finora as usual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73880" y="1874520"/>
            <a:ext cx="34137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629912" y="2093976"/>
            <a:ext cx="365760" cy="365760"/>
          </a:xfrm>
          <a:prstGeom prst="ellipse">
            <a:avLst/>
          </a:prstGeom>
          <a:solidFill>
            <a:srgbClr val="F6F7FB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629912" y="2093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918960" y="2075688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7" name="Image 2" descr="/home/claude/ppt/icons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4456" y="2161184"/>
            <a:ext cx="331927" cy="3319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629912" y="2651760"/>
            <a:ext cx="2901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“UPI transfer”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629912" y="3200400"/>
            <a:ext cx="2901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 opens Send Money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107680" y="1874520"/>
            <a:ext cx="34137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363712" y="2093976"/>
            <a:ext cx="365760" cy="365760"/>
          </a:xfrm>
          <a:prstGeom prst="ellipse">
            <a:avLst/>
          </a:prstGeom>
          <a:solidFill>
            <a:srgbClr val="F6F7FB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363712" y="20939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10652760" y="2075688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4" name="Image 3" descr="/home/claude/ppt/icons/face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8256" y="2161184"/>
            <a:ext cx="331927" cy="33192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363712" y="2651760"/>
            <a:ext cx="2901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scan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8363712" y="3200400"/>
            <a:ext cx="2901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it is really you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" y="4023360"/>
            <a:ext cx="34137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8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96112" y="4242816"/>
            <a:ext cx="365760" cy="365760"/>
          </a:xfrm>
          <a:prstGeom prst="ellipse">
            <a:avLst/>
          </a:prstGeom>
          <a:solidFill>
            <a:srgbClr val="F6F7FB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96112" y="4242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3185160" y="422452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31" name="Image 4" descr="/home/claude/ppt/icons/bo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0656" y="4310024"/>
            <a:ext cx="331927" cy="331927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96112" y="4800600"/>
            <a:ext cx="2901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“Send 3000 to Suman”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896112" y="5349240"/>
            <a:ext cx="2901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reads back the request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373880" y="4023360"/>
            <a:ext cx="34137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4629912" y="4242816"/>
            <a:ext cx="365760" cy="365760"/>
          </a:xfrm>
          <a:prstGeom prst="ellipse">
            <a:avLst/>
          </a:prstGeom>
          <a:solidFill>
            <a:srgbClr val="F6F7FB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4629912" y="4242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6918960" y="4224528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pic>
        <p:nvPicPr>
          <p:cNvPr id="38" name="Image 5" descr="/home/claude/ppt/icons/lo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4456" y="4310024"/>
            <a:ext cx="331927" cy="331927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4629912" y="4800600"/>
            <a:ext cx="2901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or enter PIN</a:t>
            </a:r>
            <a:endParaRPr lang="en-US" sz="1400" dirty="0"/>
          </a:p>
        </p:txBody>
      </p:sp>
      <p:sp>
        <p:nvSpPr>
          <p:cNvPr id="40" name="Text 32"/>
          <p:cNvSpPr/>
          <p:nvPr/>
        </p:nvSpPr>
        <p:spPr>
          <a:xfrm>
            <a:off x="4629912" y="5349240"/>
            <a:ext cx="2901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safety check before sending</a:t>
            </a:r>
            <a:endParaRPr lang="en-US" sz="1100" dirty="0"/>
          </a:p>
        </p:txBody>
      </p:sp>
      <p:sp>
        <p:nvSpPr>
          <p:cNvPr id="41" name="Shape 33"/>
          <p:cNvSpPr/>
          <p:nvPr/>
        </p:nvSpPr>
        <p:spPr>
          <a:xfrm>
            <a:off x="8107680" y="4023360"/>
            <a:ext cx="34137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01600" dist="25400" dir="5400000">
              <a:srgbClr val="1F2937">
                <a:alpha val="8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8363712" y="4242816"/>
            <a:ext cx="365760" cy="365760"/>
          </a:xfrm>
          <a:prstGeom prst="ellipse">
            <a:avLst/>
          </a:prstGeom>
          <a:solidFill>
            <a:srgbClr val="F6F7FB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8363712" y="42428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44" name="Shape 36"/>
          <p:cNvSpPr/>
          <p:nvPr/>
        </p:nvSpPr>
        <p:spPr>
          <a:xfrm>
            <a:off x="10652760" y="4224528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45" name="Image 6" descr="/home/claude/ppt/icons/check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38256" y="4310024"/>
            <a:ext cx="331927" cy="331927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8363712" y="4800600"/>
            <a:ext cx="29016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done</a:t>
            </a:r>
            <a:endParaRPr lang="en-US" sz="1400" dirty="0"/>
          </a:p>
        </p:txBody>
      </p:sp>
      <p:sp>
        <p:nvSpPr>
          <p:cNvPr id="47" name="Text 38"/>
          <p:cNvSpPr/>
          <p:nvPr/>
        </p:nvSpPr>
        <p:spPr>
          <a:xfrm>
            <a:off x="8363712" y="5349240"/>
            <a:ext cx="29016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spoken aloud</a:t>
            </a:r>
            <a:endParaRPr lang="en-US" sz="1100" dirty="0"/>
          </a:p>
        </p:txBody>
      </p:sp>
      <p:sp>
        <p:nvSpPr>
          <p:cNvPr id="48" name="Text 3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Finora  ·  Credit-safe voice payments</a:t>
            </a:r>
            <a:endParaRPr lang="en-US" sz="1000" dirty="0"/>
          </a:p>
        </p:txBody>
      </p:sp>
      <p:sp>
        <p:nvSpPr>
          <p:cNvPr id="49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top of Finora’s existing Banking &amp; Credit screens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app to learn — the guardrail and voice flow extend screens users already have.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52400" dist="38100" dir="5400000">
              <a:srgbClr val="1F2937">
                <a:alpha val="12000"/>
              </a:srgbClr>
            </a:outerShdw>
          </a:effectLst>
        </p:spPr>
      </p:sp>
      <p:pic>
        <p:nvPicPr>
          <p:cNvPr id="5" name="Image 0" descr="/home/claude/finora/finora-webapp-main/screenshots/credit_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9808" y="1801368"/>
            <a:ext cx="4855464" cy="3941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5349240"/>
            <a:ext cx="2468880" cy="384048"/>
          </a:xfrm>
          <a:prstGeom prst="roundRect">
            <a:avLst>
              <a:gd name="adj" fmla="val 19048"/>
            </a:avLst>
          </a:prstGeom>
          <a:solidFill>
            <a:srgbClr val="13245C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5349240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screen → guardrail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46520" y="1691640"/>
            <a:ext cx="507492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3E6EE"/>
            </a:solidFill>
            <a:prstDash val="solid"/>
          </a:ln>
          <a:effectLst>
            <a:outerShdw sx="100000" sy="100000" kx="0" ky="0" algn="bl" rotWithShape="0" blurRad="152400" dist="38100" dir="5400000">
              <a:srgbClr val="1F2937">
                <a:alpha val="12000"/>
              </a:srgbClr>
            </a:outerShdw>
          </a:effectLst>
        </p:spPr>
      </p:sp>
      <p:pic>
        <p:nvPicPr>
          <p:cNvPr id="9" name="Image 1" descr="/home/claude/finora/finora-webapp-main/screenshots/bank_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56248" y="1801368"/>
            <a:ext cx="4855464" cy="394106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675120" y="534924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13245C"/>
          </a:solidFill>
          <a:ln/>
        </p:spPr>
      </p:sp>
      <p:sp>
        <p:nvSpPr>
          <p:cNvPr id="11" name="Text 7"/>
          <p:cNvSpPr/>
          <p:nvPr/>
        </p:nvSpPr>
        <p:spPr>
          <a:xfrm>
            <a:off x="6675120" y="5349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Money → voice + face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Finora  ·  Credit-safe voice payments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4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1B2E63"/>
          </a:solidFill>
          <a:ln w="12700">
            <a:solidFill>
              <a:srgbClr val="2B3E7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691640"/>
            <a:ext cx="566928" cy="566928"/>
          </a:xfrm>
          <a:prstGeom prst="ellipse">
            <a:avLst/>
          </a:prstGeom>
          <a:solidFill>
            <a:srgbClr val="10B981"/>
          </a:solidFill>
          <a:ln/>
        </p:spPr>
      </p:sp>
      <p:pic>
        <p:nvPicPr>
          <p:cNvPr id="5" name="Image 0" descr="/home/claude/ppt/icons/shield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988" y="1782348"/>
            <a:ext cx="385511" cy="3855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6367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Safer spending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828800" y="2020824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Credit-damaging payments are flagged before they happen.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263640" y="141732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1B2E63"/>
          </a:solidFill>
          <a:ln w="12700">
            <a:solidFill>
              <a:srgbClr val="2B3E7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537960" y="1691640"/>
            <a:ext cx="566928" cy="566928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0" name="Image 1" descr="/home/claude/ppt/icons/m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668" y="1782348"/>
            <a:ext cx="385511" cy="38551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63677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to use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7269480" y="2020824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spoken sentence replaces multiple screens.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22960" y="338328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1B2E63"/>
          </a:solidFill>
          <a:ln w="12700">
            <a:solidFill>
              <a:srgbClr val="2B3E7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97280" y="3657600"/>
            <a:ext cx="566928" cy="566928"/>
          </a:xfrm>
          <a:prstGeom prst="ellipse">
            <a:avLst/>
          </a:prstGeom>
          <a:solidFill>
            <a:srgbClr val="F59E0B"/>
          </a:solidFill>
          <a:ln/>
        </p:spPr>
      </p:sp>
      <p:pic>
        <p:nvPicPr>
          <p:cNvPr id="15" name="Image 2" descr="/home/claude/ppt/icons/face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988" y="3748308"/>
            <a:ext cx="385511" cy="38551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36027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mistakes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1828800" y="3986784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+ PIN confirm every transfer before money moves.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6263640" y="3383280"/>
            <a:ext cx="5074920" cy="1600200"/>
          </a:xfrm>
          <a:prstGeom prst="roundRect">
            <a:avLst>
              <a:gd name="adj" fmla="val 6857"/>
            </a:avLst>
          </a:prstGeom>
          <a:solidFill>
            <a:srgbClr val="1B2E63"/>
          </a:solidFill>
          <a:ln w="12700">
            <a:solidFill>
              <a:srgbClr val="2B3E7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537960" y="3657600"/>
            <a:ext cx="566928" cy="566928"/>
          </a:xfrm>
          <a:prstGeom prst="ellipse">
            <a:avLst/>
          </a:prstGeom>
          <a:solidFill>
            <a:srgbClr val="F87171"/>
          </a:solidFill>
          <a:ln/>
        </p:spPr>
      </p:sp>
      <p:pic>
        <p:nvPicPr>
          <p:cNvPr id="20" name="Image 3" descr="/home/claude/ppt/icons/handhe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8668" y="3748308"/>
            <a:ext cx="385511" cy="38551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269480" y="360273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independence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7269480" y="3986784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users can pay confidently, without help.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Finora — finance that keeps up with everyone, at their own pace.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2026-09-03T08:57:22Z</dcterms:created>
  <dcterms:modified xsi:type="dcterms:W3CDTF">2026-09-03T08:57:22Z</dcterms:modified>
</cp:coreProperties>
</file>